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bmp" ContentType="image/bmp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id="2147483660"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spPr>
            <a:solidFill>
              <a:srgbClr val="0A7AFF"/>
            </a:solidFill>
            <a:ln>
              <a:noFill/>
            </a:ln>
          </c:spP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>
                    <a:solidFill>
                      <a:srgbClr val="6B7280"/>
                    </a:solidFill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39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去年</c:v>
                </c:pt>
              </c:strCache>
            </c:strRef>
          </c:tx>
          <c:spPr>
            <a:solidFill>
              <a:srgbClr val="3DBE64"/>
            </a:solidFill>
            <a:ln>
              <a:noFill/>
            </a:ln>
          </c:spP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>
                    <a:solidFill>
                      <a:srgbClr val="6B7280"/>
                    </a:solidFill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</c:v>
                </c:pt>
                <c:pt idx="1">
                  <c:v>33</c:v>
                </c:pt>
                <c:pt idx="2">
                  <c:v>38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+mn-lt"/>
                <a:ea typeface="+mn-ea"/>
              </a:defRPr>
            </a:pPr>
            <a:endParaRPr lang="zh-CN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</a:ln>
          </c:spPr>
        </c:majorGridlines>
        <c:numFmt formatCode="General" sourceLinked="0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+mn-lt"/>
                <a:ea typeface="+mn-ea"/>
              </a:defRPr>
            </a:pPr>
            <a:endParaRPr lang="zh-CN"/>
          </a:p>
        </c:txPr>
        <c:crossAx val="11111111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+mn-lt"/>
              <a:ea typeface="+mn-ea"/>
            </a:defRPr>
          </a:pPr>
          <a:endParaRPr lang="zh-CN"/>
        </a:p>
      </c:txPr>
    </c:legend>
    <c:plotVisOnly val="1"/>
  </c:chart>
  <c:spPr>
    <a:noFill/>
    <a:ln>
      <a:noFill/>
    </a:ln>
  </c:spPr>
  <c:txPr>
    <a:bodyPr/>
    <a:lstStyle/>
    <a:p>
      <a:pPr>
        <a:defRPr sz="1000">
          <a:solidFill>
            <a:srgbClr val="6B7280"/>
          </a:solidFill>
          <a:latin typeface="+mn-lt"/>
          <a:ea typeface="+mn-ea"/>
        </a:defRPr>
      </a:pPr>
      <a:endParaRPr lang="zh-CN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rgbClr val="0A7AFF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3DBE64"/>
              </a:solidFill>
              <a:ln>
                <a:noFill/>
              </a:ln>
            </c:spPr>
          </c:dPt>
          <c:dPt>
            <c:idx val="2"/>
            <c:bubble3D val="0"/>
            <c:spPr>
              <a:solidFill>
                <a:srgbClr val="F5A623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新客</c:v>
                </c:pt>
                <c:pt idx="1">
                  <c:v>复购</c:v>
                </c:pt>
                <c:pt idx="2">
                  <c:v>会员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41</c:v>
                </c:pt>
                <c:pt idx="2">
                  <c:v>27</c:v>
                </c:pt>
              </c:numCache>
            </c:numRef>
          </c:val>
        </c:ser>
        <c:dLbls>
          <c:spPr>
            <a:noFill/>
            <a:ln>
              <a:noFill/>
            </a:ln>
          </c:spPr>
          <c:txPr>
            <a:bodyPr/>
            <a:lstStyle/>
            <a:p>
              <a:pPr>
                <a:defRPr sz="900">
                  <a:solidFill>
                    <a:srgbClr val="6B7280"/>
                  </a:solidFill>
                </a:defRPr>
              </a:pPr>
              <a:endParaRPr lang="zh-CN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+mn-lt"/>
              <a:ea typeface="+mn-ea"/>
            </a:defRPr>
          </a:pPr>
          <a:endParaRPr lang="zh-CN"/>
        </a:p>
      </c:txPr>
    </c:legend>
    <c:plotVisOnly val="1"/>
  </c:chart>
  <c:spPr>
    <a:noFill/>
    <a:ln>
      <a:noFill/>
    </a:ln>
  </c:spPr>
  <c:txPr>
    <a:bodyPr/>
    <a:lstStyle/>
    <a:p>
      <a:pPr>
        <a:defRPr sz="1000">
          <a:solidFill>
            <a:srgbClr val="6B7280"/>
          </a:solidFill>
          <a:latin typeface="+mn-lt"/>
          <a:ea typeface="+mn-ea"/>
        </a:defRPr>
      </a:pPr>
      <a:endParaRPr lang="zh-CN"/>
    </a:p>
  </c:txPr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 altLang="en-US" sz="1200" dirty="0">
                <a:solidFill>
                  <a:srgbClr val="333333"/>
                </a:solidFill>
              </a:rPr>
              <a:t>口径: 财务中台, 截止 9-30。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8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1_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5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"/>
          <p:cNvSpPr/>
          <p:nvPr/>
        </p:nvSpPr>
        <p:spPr>
          <a:xfrm>
            <a:off x="900000" y="2280000"/>
            <a:ext cx="900000" cy="1270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Text"/>
          <p:cNvSpPr txBox="1"/>
          <p:nvPr/>
        </p:nvSpPr>
        <p:spPr>
          <a:xfrm>
            <a:off x="900000" y="2520000"/>
            <a:ext cx="9792000" cy="1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4400" b="1" dirty="0">
                <a:solidFill>
                  <a:srgbClr val="1B2330"/>
                </a:solidFill>
              </a:rPr>
              <a:t>Q3 经营复盘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4280000"/>
            <a:ext cx="91920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800" dirty="0">
                <a:solidFill>
                  <a:srgbClr val="6B7280"/>
                </a:solidFill>
              </a:rPr>
              <a:t>2026-08 · 经营分析组</a:t>
            </a:r>
          </a:p>
        </p:txBody>
      </p:sp>
      <p:sp>
        <p:nvSpPr>
          <p:cNvPr id="6" name="Shape"/>
          <p:cNvSpPr/>
          <p:nvPr/>
        </p:nvSpPr>
        <p:spPr>
          <a:xfrm>
            <a:off x="900000" y="6358000"/>
            <a:ext cx="10392000" cy="127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B2330"/>
                </a:solidFill>
              </a:rPr>
              <a:t>目录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AA3AF"/>
                </a:solidFill>
              </a:rPr>
              <a:t>2 / 15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900000" y="190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0A7AFF"/>
                </a:solidFill>
              </a:rPr>
              <a:t>01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700000" y="190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B2330"/>
                </a:solidFill>
              </a:rPr>
              <a:t>业绩概览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66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0A7AFF"/>
                </a:solidFill>
              </a:rPr>
              <a:t>02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700000" y="266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B2330"/>
                </a:solidFill>
              </a:rPr>
              <a:t>渠道表现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900000" y="342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0A7AFF"/>
                </a:solidFill>
              </a:rPr>
              <a:t>03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700000" y="342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B2330"/>
                </a:solidFill>
              </a:rPr>
              <a:t>问题与对策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6446000" y="190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0A7AFF"/>
                </a:solidFill>
              </a:rPr>
              <a:t>04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7246000" y="190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B2330"/>
                </a:solidFill>
              </a:rPr>
              <a:t>下季度计划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6446000" y="266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0A7AFF"/>
                </a:solidFill>
              </a:rPr>
              <a:t>05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7246000" y="266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B2330"/>
                </a:solidFill>
              </a:rPr>
              <a:t>风险提示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446000" y="342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0A7AFF"/>
                </a:solidFill>
              </a:rPr>
              <a:t>06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7246000" y="342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B2330"/>
                </a:solidFill>
              </a:rPr>
              <a:t>附录说明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1200000"/>
            <a:ext cx="3000000" cy="1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5400" b="1" dirty="0">
                <a:solidFill>
                  <a:srgbClr val="FFFFFF">
                    <a:alpha val="45000"/>
                  </a:srgbClr>
                </a:solidFill>
              </a:rPr>
              <a:t>01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900000" y="2600000"/>
            <a:ext cx="9592000" cy="1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4000" b="1" dirty="0">
                <a:solidFill>
                  <a:srgbClr val="FFFFFF"/>
                </a:solidFill>
              </a:rPr>
              <a:t>业绩概览</a:t>
            </a:r>
          </a:p>
        </p:txBody>
      </p:sp>
      <p:sp>
        <p:nvSpPr>
          <p:cNvPr id="6" name="Overlay"/>
          <p:cNvSpPr/>
          <p:nvPr/>
        </p:nvSpPr>
        <p:spPr>
          <a:xfrm>
            <a:off x="900000" y="2450000"/>
            <a:ext cx="1400000" cy="508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B2330"/>
                </a:solidFill>
              </a:rPr>
              <a:t>核心指标全面达标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AA3AF"/>
                </a:solidFill>
              </a:rPr>
              <a:t>4 / 15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00000" y="1800000"/>
            <a:ext cx="10392000" cy="4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333F50"/>
                </a:solidFill>
              </a:rPr>
              <a:t>营收 1.2 亿元，同比 +18%</a:t>
            </a:r>
          </a:p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333F50"/>
                </a:solidFill>
              </a:rPr>
              <a:t>新增客户 3,240 家</a:t>
            </a:r>
          </a:p>
          <a:p>
            <a:pPr marL="800100" indent="-285750">
              <a:spcBef>
                <a:spcPts val="900"/>
              </a:spcBef>
              <a:buClr>
                <a:srgbClr val="9AA3AF"/>
              </a:buClr>
              <a:buFont typeface="Arial"/>
              <a:buChar char="–"/>
            </a:pPr>
            <a:r>
              <a:rPr lang="zh-CN" altLang="en-US" sz="1700" dirty="0">
                <a:solidFill>
                  <a:srgbClr val="6B7280"/>
                </a:solidFill>
              </a:rPr>
              <a:t>华东区贡献 42%</a:t>
            </a:r>
          </a:p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333F50"/>
                </a:solidFill>
              </a:rPr>
              <a:t>客单价 3,700 元，环比 +5%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B2330"/>
                </a:solidFill>
              </a:rPr>
              <a:t>月度营收趋势（百万）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AA3AF"/>
                </a:solidFill>
              </a:rPr>
              <a:t>5 / 15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900000" y="1840000"/>
          <a:ext cx="10392000" cy="40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"/>
          <p:cNvSpPr txBox="1"/>
          <p:nvPr/>
        </p:nvSpPr>
        <p:spPr>
          <a:xfrm>
            <a:off x="900000" y="5960000"/>
            <a:ext cx="10392000" cy="3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lang="zh-CN" altLang="en-US" sz="1100" dirty="0">
                <a:solidFill>
                  <a:srgbClr val="6B7280"/>
                </a:solidFill>
              </a:rPr>
              <a:t>数据来源: 财务中台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B2330"/>
                </a:solidFill>
              </a:rPr>
              <a:t>渠道表现对比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AA3AF"/>
                </a:solidFill>
              </a:rPr>
              <a:t>6 / 15</a:t>
            </a:r>
          </a:p>
        </p:txBody>
      </p:sp>
      <p:sp>
        <p:nvSpPr>
          <p:cNvPr id="30" name="Shape"/>
          <p:cNvSpPr/>
          <p:nvPr/>
        </p:nvSpPr>
        <p:spPr>
          <a:xfrm>
            <a:off x="900000" y="1840000"/>
            <a:ext cx="320000" cy="460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" name="Text"/>
          <p:cNvSpPr txBox="1"/>
          <p:nvPr/>
        </p:nvSpPr>
        <p:spPr>
          <a:xfrm>
            <a:off x="1320000" y="1720000"/>
            <a:ext cx="4376000" cy="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lang="zh-CN" altLang="en-US" sz="1800" b="1" dirty="0">
                <a:solidFill>
                  <a:srgbClr val="1B2330"/>
                </a:solidFill>
              </a:rPr>
              <a:t>线上渠道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900000" y="2360000"/>
            <a:ext cx="4796000" cy="39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333F50"/>
                </a:solidFill>
              </a:rPr>
              <a:t>占比 58%，同比 +9pct</a:t>
            </a:r>
          </a:p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333F50"/>
                </a:solidFill>
              </a:rPr>
              <a:t>直播带货 GMV 2,300 万</a:t>
            </a:r>
          </a:p>
        </p:txBody>
      </p:sp>
      <p:sp>
        <p:nvSpPr>
          <p:cNvPr id="31" name="Shape"/>
          <p:cNvSpPr/>
          <p:nvPr/>
        </p:nvSpPr>
        <p:spPr>
          <a:xfrm>
            <a:off x="6496000" y="1840000"/>
            <a:ext cx="320000" cy="460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ext"/>
          <p:cNvSpPr txBox="1"/>
          <p:nvPr/>
        </p:nvSpPr>
        <p:spPr>
          <a:xfrm>
            <a:off x="6916000" y="1720000"/>
            <a:ext cx="4376000" cy="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lang="zh-CN" altLang="en-US" sz="1800" b="1" dirty="0">
                <a:solidFill>
                  <a:srgbClr val="1B2330"/>
                </a:solidFill>
              </a:rPr>
              <a:t>线下渠道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6496000" y="2360000"/>
            <a:ext cx="4796000" cy="39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333F50"/>
                </a:solidFill>
              </a:rPr>
              <a:t>占比 42%，同比 -4pct</a:t>
            </a:r>
          </a:p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333F50"/>
                </a:solidFill>
              </a:rPr>
              <a:t>新开门店 12 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B2330"/>
                </a:solidFill>
              </a:rPr>
              <a:t>旗舰门店改造完成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AA3AF"/>
                </a:solidFill>
              </a:rPr>
              <a:t>7 / 15</a:t>
            </a:r>
          </a:p>
        </p:txBody>
      </p:sp>
      <p:pic>
        <p:nvPicPr>
          <p:cNvPr id="10" name="Picture"/>
          <p:cNvPicPr>
            <a:picLocks noChangeAspect="1"/>
          </p:cNvPicPr>
          <p:nvPr/>
        </p:nvPicPr>
        <p:blipFill>
          <a:blip r:embed="rId2"/>
          <a:srcRect l="5479" r="5479"/>
          <a:stretch>
            <a:fillRect/>
          </a:stretch>
        </p:blipFill>
        <p:spPr>
          <a:xfrm>
            <a:off x="900000" y="1860000"/>
            <a:ext cx="5200000" cy="43800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6700000" y="1900000"/>
            <a:ext cx="4592000" cy="43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1800" dirty="0">
                <a:solidFill>
                  <a:srgbClr val="333F50"/>
                </a:solidFill>
              </a:rPr>
              <a:t>坪效提升 22%</a:t>
            </a:r>
          </a:p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1800" dirty="0">
                <a:solidFill>
                  <a:srgbClr val="333F50"/>
                </a:solidFill>
              </a:rPr>
              <a:t>单店模型可复制</a:t>
            </a:r>
          </a:p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1800" dirty="0">
                <a:solidFill>
                  <a:srgbClr val="333F50"/>
                </a:solidFill>
              </a:rPr>
              <a:t>Q4 推广至 8 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pic>
        <p:nvPicPr>
          <p:cNvPr id="2" name="Picture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erlay"/>
          <p:cNvSpPr/>
          <p:nvPr/>
        </p:nvSpPr>
        <p:spPr>
          <a:xfrm>
            <a:off x="0" y="5958000"/>
            <a:ext cx="12192000" cy="900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Text"/>
          <p:cNvSpPr txBox="1"/>
          <p:nvPr/>
        </p:nvSpPr>
        <p:spPr>
          <a:xfrm>
            <a:off x="900000" y="6058000"/>
            <a:ext cx="10392000" cy="5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1500" dirty="0">
                <a:solidFill>
                  <a:srgbClr val="FFFFFF"/>
                </a:solidFill>
              </a:rPr>
              <a:t>旗舰门店实景（来源: 品牌部）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B2330"/>
                </a:solidFill>
              </a:rPr>
              <a:t>区域达成率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AA3AF"/>
                </a:solidFill>
              </a:rPr>
              <a:t>9 / 15</a:t>
            </a:r>
          </a:p>
        </p:txBody>
      </p:sp>
      <p:graphicFrame>
        <p:nvGraphicFramePr>
          <p:cNvPr id="10" name="Table"/>
          <p:cNvGraphicFramePr/>
          <p:nvPr/>
        </p:nvGraphicFramePr>
        <p:xfrm>
          <a:off x="900000" y="1800000"/>
          <a:ext cx="10392000" cy="2420000"/>
        </p:xfrm>
        <a:graphic>
          <a:graphicData uri="http://schemas.openxmlformats.org/drawingml/2006/table">
            <a:tbl>
              <a:tblPr firstRow="1" bandRow="1"/>
              <a:tblGrid>
                <a:gridCol w="4156800"/>
                <a:gridCol w="3117600"/>
                <a:gridCol w="3117600"/>
              </a:tblGrid>
              <a:tr h="620000">
                <a:tc>
                  <a:txBody>
                    <a:bodyPr/>
                    <a:lstStyle/>
                    <a:p>
                      <a:pPr/>
                      <a:r>
                        <a:rPr lang="zh-CN" altLang="en-US" sz="1400" b="1" dirty="0">
                          <a:solidFill>
                            <a:srgbClr val="FFFFFF"/>
                          </a:solidFill>
                        </a:rPr>
                        <a:t>区域</a:t>
                      </a:r>
                    </a:p>
                  </a:txBody>
                  <a:tcPr marL="109728" marR="109728" marT="45720" marB="45720" anchor="ctr">
                    <a:solidFill>
                      <a:srgbClr val="0A7A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400" b="1" dirty="0">
                          <a:solidFill>
                            <a:srgbClr val="FFFFFF"/>
                          </a:solidFill>
                        </a:rPr>
                        <a:t>达成率</a:t>
                      </a:r>
                    </a:p>
                  </a:txBody>
                  <a:tcPr marL="109728" marR="109728" marT="45720" marB="45720" anchor="ctr">
                    <a:solidFill>
                      <a:srgbClr val="0A7A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400" b="1" dirty="0">
                          <a:solidFill>
                            <a:srgbClr val="FFFFFF"/>
                          </a:solidFill>
                        </a:rPr>
                        <a:t>同比</a:t>
                      </a:r>
                    </a:p>
                  </a:txBody>
                  <a:tcPr marL="109728" marR="109728" marT="45720" marB="45720" anchor="ctr">
                    <a:solidFill>
                      <a:srgbClr val="0A7A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333F50"/>
                          </a:solidFill>
                        </a:rPr>
                        <a:t>华东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333F50"/>
                          </a:solidFill>
                        </a:rPr>
                        <a:t>112%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333F50"/>
                          </a:solidFill>
                        </a:rPr>
                        <a:t>+9%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333F50"/>
                          </a:solidFill>
                        </a:rPr>
                        <a:t>华南</a:t>
                      </a:r>
                    </a:p>
                  </a:txBody>
                  <a:tcPr marL="109728" marR="109728" marT="45720" marB="45720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333F50"/>
                          </a:solidFill>
                        </a:rPr>
                        <a:t>104%</a:t>
                      </a:r>
                    </a:p>
                  </a:txBody>
                  <a:tcPr marL="109728" marR="109728" marT="45720" marB="45720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333F50"/>
                          </a:solidFill>
                        </a:rPr>
                        <a:t>+4%</a:t>
                      </a:r>
                    </a:p>
                  </a:txBody>
                  <a:tcPr marL="109728" marR="109728" marT="45720" marB="45720" anchor="ctr">
                    <a:solidFill>
                      <a:srgbClr val="F2F6FC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333F50"/>
                          </a:solidFill>
                        </a:rPr>
                        <a:t>华北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333F50"/>
                          </a:solidFill>
                        </a:rPr>
                        <a:t>96%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333F50"/>
                          </a:solidFill>
                        </a:rPr>
                        <a:t>-2%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"/>
          <p:cNvSpPr txBox="1"/>
          <p:nvPr/>
        </p:nvSpPr>
        <p:spPr>
          <a:xfrm>
            <a:off x="900000" y="5960000"/>
            <a:ext cx="10392000" cy="3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lang="zh-CN" altLang="en-US" sz="1100" dirty="0">
                <a:solidFill>
                  <a:srgbClr val="6B7280"/>
                </a:solidFill>
              </a:rPr>
              <a:t>来源: 区域运营月报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B2330"/>
                </a:solidFill>
              </a:rPr>
              <a:t>客群结构占比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AA3AF"/>
                </a:solidFill>
              </a:rPr>
              <a:t>10 / 15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900000" y="1840000"/>
          <a:ext cx="10392000" cy="44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FFFFFF"/>
                </a:solidFill>
              </a:rPr>
              <a:t>深色背景页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7E8CA0"/>
                </a:solidFill>
              </a:rPr>
              <a:t>11 / 15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00000" y="1800000"/>
            <a:ext cx="10392000" cy="4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E2E8F0"/>
                </a:solidFill>
              </a:rPr>
              <a:t>背景图 + 遮罩示例</a:t>
            </a:r>
          </a:p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E2E8F0"/>
                </a:solidFill>
              </a:rPr>
              <a:t>白色文字保证对比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700000"/>
            <a:ext cx="2000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9600" b="1" dirty="0">
                <a:solidFill>
                  <a:srgbClr val="0A7AFF"/>
                </a:solidFill>
              </a:rPr>
              <a:t>“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500000" y="2300000"/>
            <a:ext cx="9192000" cy="24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zh-CN" altLang="en-US" sz="3200" dirty="0">
                <a:solidFill>
                  <a:srgbClr val="1B2330"/>
                </a:solidFill>
              </a:rPr>
              <a:t>增长的本质是复利，而复利来自纪律。</a:t>
            </a:r>
          </a:p>
        </p:txBody>
      </p:sp>
      <p:sp>
        <p:nvSpPr>
          <p:cNvPr id="5" name="Shape"/>
          <p:cNvSpPr/>
          <p:nvPr/>
        </p:nvSpPr>
        <p:spPr>
          <a:xfrm>
            <a:off x="5696000" y="4950000"/>
            <a:ext cx="800000" cy="381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ext"/>
          <p:cNvSpPr txBox="1"/>
          <p:nvPr/>
        </p:nvSpPr>
        <p:spPr>
          <a:xfrm>
            <a:off x="900000" y="5100000"/>
            <a:ext cx="10392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zh-CN" altLang="en-US" sz="1500" dirty="0">
                <a:solidFill>
                  <a:srgbClr val="6B7280"/>
                </a:solidFill>
              </a:rPr>
              <a:t>—— 经营分析组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1200000"/>
            <a:ext cx="3000000" cy="1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5400" b="1" dirty="0">
                <a:solidFill>
                  <a:srgbClr val="FFFFFF">
                    <a:alpha val="45000"/>
                  </a:srgbClr>
                </a:solidFill>
              </a:rPr>
              <a:t>02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900000" y="2600000"/>
            <a:ext cx="9592000" cy="1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4000" b="1" dirty="0">
                <a:solidFill>
                  <a:srgbClr val="FFFFFF"/>
                </a:solidFill>
              </a:rPr>
              <a:t>问题与对策</a:t>
            </a:r>
          </a:p>
        </p:txBody>
      </p:sp>
      <p:sp>
        <p:nvSpPr>
          <p:cNvPr id="6" name="Overlay"/>
          <p:cNvSpPr/>
          <p:nvPr/>
        </p:nvSpPr>
        <p:spPr>
          <a:xfrm>
            <a:off x="900000" y="2450000"/>
            <a:ext cx="1400000" cy="508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B2330"/>
                </a:solidFill>
              </a:rPr>
              <a:t>华北未达成，需专项跟进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AA3AF"/>
                </a:solidFill>
              </a:rPr>
              <a:t>14 / 15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00000" y="1800000"/>
            <a:ext cx="10392000" cy="4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333F50"/>
                </a:solidFill>
              </a:rPr>
              <a:t>达成率 96%，缺口 1,400 万</a:t>
            </a:r>
          </a:p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333F50"/>
                </a:solidFill>
              </a:rPr>
              <a:t>大客户续约延迟是主因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0" name="Text"/>
          <p:cNvSpPr txBox="1"/>
          <p:nvPr/>
        </p:nvSpPr>
        <p:spPr>
          <a:xfrm>
            <a:off x="975360" y="1371600"/>
            <a:ext cx="609600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3000" b="1" dirty="0">
                <a:solidFill>
                  <a:srgbClr val="0A7AFF"/>
                </a:solidFill>
              </a:rPr>
              <a:t>Q4 关键动作</a:t>
            </a:r>
          </a:p>
        </p:txBody>
      </p:sp>
      <p:sp>
        <p:nvSpPr>
          <p:cNvPr id="52" name="Shape"/>
          <p:cNvSpPr/>
          <p:nvPr/>
        </p:nvSpPr>
        <p:spPr>
          <a:xfrm>
            <a:off x="7315200" y="1714500"/>
            <a:ext cx="3901440" cy="30861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4" name="Text"/>
          <p:cNvSpPr txBox="1"/>
          <p:nvPr/>
        </p:nvSpPr>
        <p:spPr>
          <a:xfrm>
            <a:off x="975360" y="3086100"/>
            <a:ext cx="5486400" cy="2057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800" dirty="0">
                <a:solidFill>
                  <a:srgbClr val="333F50"/>
                </a:solidFill>
              </a:rPr>
              <a:t>8 家门店复制</a:t>
            </a:r>
            <a:br/>
            <a:r>
              <a:rPr lang="zh-CN" altLang="en-US" sz="1800" dirty="0">
                <a:solidFill>
                  <a:srgbClr val="333F50"/>
                </a:solidFill>
              </a:rPr>
              <a:t>2 场行业大促</a:t>
            </a:r>
          </a:p>
        </p:txBody>
      </p:sp>
      <p:pic>
        <p:nvPicPr>
          <p:cNvPr id="56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68830"/>
            <a:ext cx="316992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uncat Deck">
  <a:themeElements>
    <a:clrScheme name="Deck">
      <a:dk1>
        <a:srgbClr val="1B2330"/>
      </a:dk1>
      <a:lt1>
        <a:srgbClr val="FFFFFF"/>
      </a:lt1>
      <a:dk2>
        <a:srgbClr val="333F50"/>
      </a:dk2>
      <a:lt2>
        <a:srgbClr val="F2F6FC"/>
      </a:lt2>
      <a:accent1>
        <a:srgbClr val="0A7AFF"/>
      </a:accent1>
      <a:accent2>
        <a:srgbClr val="3DBE64"/>
      </a:accent2>
      <a:accent3>
        <a:srgbClr val="F5A623"/>
      </a:accent3>
      <a:accent4>
        <a:srgbClr val="8E9BFF"/>
      </a:accent4>
      <a:accent5>
        <a:srgbClr val="34C3C9"/>
      </a:accent5>
      <a:accent6>
        <a:srgbClr val="A0AEC6"/>
      </a:accent6>
      <a:hlink>
        <a:srgbClr val="0A7AFF"/>
      </a:hlink>
      <a:folHlink>
        <a:srgbClr val="6B7280"/>
      </a:folHlink>
    </a:clrScheme>
    <a:fontScheme name="Dec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Guncat Work</Application>
  <HeadingPairs>
    <vt:vector size="2" baseType="variant">
      <vt:variant>
        <vt:lpstr>幻灯片</vt:lpstr>
      </vt:variant>
      <vt:variant>
        <vt:i4>15</vt:i4>
      </vt:variant>
    </vt:vector>
  </HeadingPairs>
  <TitlesOfParts>
    <vt:vector size="16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经营复盘</dc:title>
  <dc:creator>Guncat Work</dc:creator>
  <cp:lastModifiedBy>Guncat Work</cp:lastModifiedBy>
  <dcterms:created xsi:type="dcterms:W3CDTF">2026-08-30T10:52:46Z</dcterms:created>
  <dcterms:modified xsi:type="dcterms:W3CDTF">2026-08-30T10:52:46Z</dcterms:modified>
</cp:coreProperties>
</file>