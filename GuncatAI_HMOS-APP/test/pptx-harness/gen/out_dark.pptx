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bmp" ContentType="image/bmp"/>
  <Default Extension="json" ContentType="application/jso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id="2147483660"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lineChart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</c:v>
                </c:pt>
              </c:strCache>
            </c:strRef>
          </c:tx>
          <c:spPr>
            <a:solidFill>
              <a:srgbClr val="38BDF8"/>
            </a:solidFill>
            <a:ln w="28575" cap="rnd">
              <a:solidFill>
                <a:srgbClr val="38BDF8"/>
              </a:solidFill>
            </a:ln>
          </c:spPr>
          <c:marker>
            <c:symbol val="circle"/>
            <c:size val="5"/>
            <c:spPr>
              <a:solidFill>
                <a:srgbClr val="38BDF8"/>
              </a:solidFill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>
                    <a:solidFill>
                      <a:srgbClr val="A9B6C6"/>
                    </a:solidFill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v1</c:v>
                </c:pt>
                <c:pt idx="1">
                  <c:v>v2</c:v>
                </c:pt>
                <c:pt idx="2">
                  <c:v>v3</c:v>
                </c:pt>
                <c:pt idx="3">
                  <c:v>v4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260</c:v>
                </c:pt>
                <c:pt idx="2">
                  <c:v>180</c:v>
                </c:pt>
                <c:pt idx="3">
                  <c:v>120</c:v>
                </c:pt>
              </c:numCache>
            </c:numRef>
          </c:val>
          <c:smooth val="0"/>
        </c:ser>
        <c:marker val="1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tickLblPos val="nextTo"/>
        <c:txPr>
          <a:bodyPr/>
          <a:lstStyle/>
          <a:p>
            <a:pPr>
              <a:defRPr sz="1000">
                <a:solidFill>
                  <a:srgbClr val="A9B6C6"/>
                </a:solidFill>
                <a:latin typeface="+mn-lt"/>
                <a:ea typeface="+mn-ea"/>
              </a:defRPr>
            </a:pPr>
            <a:endParaRPr lang="zh-CN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9525">
              <a:solidFill>
                <a:srgbClr val="1E293B"/>
              </a:solidFill>
            </a:ln>
          </c:spPr>
        </c:majorGridlines>
        <c:numFmt formatCode="General" sourceLinked="0"/>
        <c:tickLblPos val="nextTo"/>
        <c:txPr>
          <a:bodyPr/>
          <a:lstStyle/>
          <a:p>
            <a:pPr>
              <a:defRPr sz="1000">
                <a:solidFill>
                  <a:srgbClr val="A9B6C6"/>
                </a:solidFill>
                <a:latin typeface="+mn-lt"/>
                <a:ea typeface="+mn-ea"/>
              </a:defRPr>
            </a:pPr>
            <a:endParaRPr lang="zh-CN"/>
          </a:p>
        </c:txPr>
        <c:crossAx val="111111111"/>
        <c:crosses val="autoZero"/>
      </c:valAx>
    </c:plotArea>
    <c:plotVisOnly val="1"/>
  </c:chart>
  <c:spPr>
    <a:noFill/>
    <a:ln>
      <a:noFill/>
    </a:ln>
  </c:spPr>
  <c:txPr>
    <a:bodyPr/>
    <a:lstStyle/>
    <a:p>
      <a:pPr>
        <a:defRPr sz="1000">
          <a:solidFill>
            <a:srgbClr val="A9B6C6"/>
          </a:solidFill>
          <a:latin typeface="+mn-lt"/>
          <a:ea typeface="+mn-ea"/>
        </a:defRPr>
      </a:pPr>
      <a:endParaRPr lang="zh-CN"/>
    </a:p>
  </c:txPr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"/>
          <p:cNvSpPr/>
          <p:nvPr/>
        </p:nvSpPr>
        <p:spPr>
          <a:xfrm>
            <a:off x="900000" y="2280000"/>
            <a:ext cx="900000" cy="127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Text"/>
          <p:cNvSpPr txBox="1"/>
          <p:nvPr/>
        </p:nvSpPr>
        <p:spPr>
          <a:xfrm>
            <a:off x="900000" y="2520000"/>
            <a:ext cx="9792000" cy="1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4400" b="1" dirty="0">
                <a:solidFill>
                  <a:srgbClr val="F1F5F9"/>
                </a:solidFill>
              </a:rPr>
              <a:t>技术架构演进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4280000"/>
            <a:ext cx="91920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800" dirty="0">
                <a:solidFill>
                  <a:srgbClr val="94A3B8"/>
                </a:solidFill>
              </a:rPr>
              <a:t>Guncat Work · 2026</a:t>
            </a:r>
          </a:p>
        </p:txBody>
      </p:sp>
      <p:sp>
        <p:nvSpPr>
          <p:cNvPr id="6" name="Shape"/>
          <p:cNvSpPr/>
          <p:nvPr/>
        </p:nvSpPr>
        <p:spPr>
          <a:xfrm>
            <a:off x="900000" y="6358000"/>
            <a:ext cx="10392000" cy="1270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FFFFFF"/>
                </a:solidFill>
              </a:rPr>
              <a:t>接口耗时 P95（ms）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7E8CA0"/>
                </a:solidFill>
              </a:rPr>
              <a:t>2 / 4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900000" y="1840000"/>
          <a:ext cx="10392000" cy="442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FFFFFF"/>
                </a:solidFill>
              </a:rPr>
              <a:t>模块迁移进度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7E8CA0"/>
                </a:solidFill>
              </a:rPr>
              <a:t>3 / 4</a:t>
            </a:r>
          </a:p>
        </p:txBody>
      </p:sp>
      <p:graphicFrame>
        <p:nvGraphicFramePr>
          <p:cNvPr id="10" name="Table"/>
          <p:cNvGraphicFramePr/>
          <p:nvPr/>
        </p:nvGraphicFramePr>
        <p:xfrm>
          <a:off x="900000" y="1800000"/>
          <a:ext cx="10392000" cy="1820000"/>
        </p:xfrm>
        <a:graphic>
          <a:graphicData uri="http://schemas.openxmlformats.org/drawingml/2006/table">
            <a:tbl>
              <a:tblPr firstRow="1" bandRow="1"/>
              <a:tblGrid>
                <a:gridCol w="3464000"/>
                <a:gridCol w="3464000"/>
                <a:gridCol w="3464000"/>
              </a:tblGrid>
              <a:tr h="620000">
                <a:tc>
                  <a:txBody>
                    <a:bodyPr/>
                    <a:lstStyle/>
                    <a:p>
                      <a:pPr/>
                      <a:r>
                        <a:rPr lang="zh-CN" altLang="en-US" sz="1400" b="1" dirty="0">
                          <a:solidFill>
                            <a:srgbClr val="FFFFFF"/>
                          </a:solidFill>
                        </a:rPr>
                        <a:t>模块</a:t>
                      </a:r>
                    </a:p>
                  </a:txBody>
                  <a:tcPr marL="109728" marR="109728" marT="45720" marB="45720" anchor="ctr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400" b="1" dirty="0">
                          <a:solidFill>
                            <a:srgbClr val="FFFFFF"/>
                          </a:solidFill>
                        </a:rPr>
                        <a:t>进度</a:t>
                      </a:r>
                    </a:p>
                  </a:txBody>
                  <a:tcPr marL="109728" marR="109728" marT="45720" marB="45720" anchor="ctr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400" b="1" dirty="0">
                          <a:solidFill>
                            <a:srgbClr val="FFFFFF"/>
                          </a:solidFill>
                        </a:rPr>
                        <a:t>负责人</a:t>
                      </a:r>
                    </a:p>
                  </a:txBody>
                  <a:tcPr marL="109728" marR="109728" marT="45720" marB="45720" anchor="ctr">
                    <a:solidFill>
                      <a:srgbClr val="38BDF8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CBD5E1"/>
                          </a:solidFill>
                        </a:rPr>
                        <a:t>Agent 循环</a:t>
                      </a:r>
                    </a:p>
                  </a:txBody>
                  <a:tcPr marL="109728" marR="109728" marT="45720" marB="4572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CBD5E1"/>
                          </a:solidFill>
                        </a:rPr>
                        <a:t>100%</a:t>
                      </a:r>
                    </a:p>
                  </a:txBody>
                  <a:tcPr marL="109728" marR="109728" marT="45720" marB="4572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CBD5E1"/>
                          </a:solidFill>
                        </a:rPr>
                        <a:t>A</a:t>
                      </a:r>
                    </a:p>
                  </a:txBody>
                  <a:tcPr marL="109728" marR="109728" marT="45720" marB="45720" anchor="ctr">
                    <a:solidFill>
                      <a:srgbClr val="0B12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CBD5E1"/>
                          </a:solidFill>
                        </a:rPr>
                        <a:t>文件沙箱</a:t>
                      </a:r>
                    </a:p>
                  </a:txBody>
                  <a:tcPr marL="109728" marR="109728" marT="45720" marB="45720" anchor="ctr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CBD5E1"/>
                          </a:solidFill>
                        </a:rPr>
                        <a:t>80%</a:t>
                      </a:r>
                    </a:p>
                  </a:txBody>
                  <a:tcPr marL="109728" marR="109728" marT="45720" marB="45720" anchor="ctr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CBD5E1"/>
                          </a:solidFill>
                        </a:rPr>
                        <a:t>B</a:t>
                      </a:r>
                    </a:p>
                  </a:txBody>
                  <a:tcPr marL="109728" marR="109728" marT="45720" marB="45720" anchor="ctr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Overlay"/>
          <p:cNvSpPr/>
          <p:nvPr/>
        </p:nvSpPr>
        <p:spPr>
          <a:xfrm>
            <a:off x="5396000" y="2280000"/>
            <a:ext cx="1400000" cy="900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Text"/>
          <p:cNvSpPr txBox="1"/>
          <p:nvPr/>
        </p:nvSpPr>
        <p:spPr>
          <a:xfrm>
            <a:off x="900000" y="2560000"/>
            <a:ext cx="10392000" cy="1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zh-CN" altLang="en-US" sz="4800" b="1" dirty="0">
                <a:solidFill>
                  <a:srgbClr val="0B1220"/>
                </a:solidFill>
              </a:rPr>
              <a:t>谢谢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4120000"/>
            <a:ext cx="103920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zh-CN" altLang="en-US" sz="1700" dirty="0">
                <a:solidFill>
                  <a:srgbClr val="0B1220">
                    <a:alpha val="75000"/>
                  </a:srgbClr>
                </a:solidFill>
              </a:rPr>
              <a:t>欢迎交流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ncat Deck">
  <a:themeElements>
    <a:clrScheme name="Deck">
      <a:dk1>
        <a:srgbClr val="F1F5F9"/>
      </a:dk1>
      <a:lt1>
        <a:srgbClr val="FFFFFF"/>
      </a:lt1>
      <a:dk2>
        <a:srgbClr val="CBD5E1"/>
      </a:dk2>
      <a:lt2>
        <a:srgbClr val="16213A"/>
      </a:lt2>
      <a:accent1>
        <a:srgbClr val="38BDF8"/>
      </a:accent1>
      <a:accent2>
        <a:srgbClr val="A78BFA"/>
      </a:accent2>
      <a:accent3>
        <a:srgbClr val="F472B6"/>
      </a:accent3>
      <a:accent4>
        <a:srgbClr val="34D399"/>
      </a:accent4>
      <a:accent5>
        <a:srgbClr val="FBBF24"/>
      </a:accent5>
      <a:accent6>
        <a:srgbClr val="64748B"/>
      </a:accent6>
      <a:hlink>
        <a:srgbClr val="38BDF8"/>
      </a:hlink>
      <a:folHlink>
        <a:srgbClr val="94A3B8"/>
      </a:folHlink>
    </a:clrScheme>
    <a:fontScheme name="Deck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Guncat Work</Application>
  <HeadingPairs>
    <vt:vector size="2" baseType="variant">
      <vt:variant>
        <vt:lpstr>幻灯片</vt:lpstr>
      </vt:variant>
      <vt:variant>
        <vt:i4>4</vt:i4>
      </vt:variant>
    </vt:vector>
  </HeadingPairs>
  <TitlesOfParts>
    <vt:vector size="5" baseType="lpstr">
      <vt:lpstr>Office 主题</vt:lpstr>
      <vt:lpstr>幻灯片 1</vt:lpstr>
      <vt:lpstr>幻灯片 2</vt:lpstr>
      <vt:lpstr>幻灯片 3</vt:lpstr>
      <vt:lpstr>幻灯片 4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技术架构演进</dc:title>
  <dc:creator>Guncat Work</dc:creator>
  <cp:lastModifiedBy>Guncat Work</cp:lastModifiedBy>
  <dcterms:created xsi:type="dcterms:W3CDTF">2026-08-30T10:52:46Z</dcterms:created>
  <dcterms:modified xsi:type="dcterms:W3CDTF">2026-08-30T10:52:46Z</dcterms:modified>
</cp:coreProperties>
</file>